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FC3F7"/>
                </a:solidFill>
              </a:rPr>
              <a:t>Multi-Label Toxic Comment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8EEF4"/>
                </a:solidFill>
              </a:rPr>
              <a:t>From CNN+GloVe to BERT
Architecture · Data Efficiency · Rare Label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AD"/>
                </a:solidFill>
              </a:rPr>
              <a:t>CMPE 258 — Deep Learning   |   Kaggle Jigsaw Toxic Comment Classification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8EEF4"/>
                </a:solidFill>
              </a:rPr>
              <a:t>"Online platforms generate millions of comments daily.
Human moderation doesn't scale — but can a model learn
six different kinds of harm simultaneously?"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EF4"/>
                </a:solidFill>
              </a:rPr>
              <a:t>[Name 1]   ·   [Name 2]   ·   [Name 3]   ·   [Name 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347"/>
                </a:solidFill>
              </a:rPr>
              <a:t>How much does model architecture and pretraining matter
for multi-label toxicity detection — and how much training data
do you actually need?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BAD"/>
                </a:solidFill>
              </a:rPr>
              <a:t>Three sub-questions that drove the full experiment chain: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Can task-trained word-vector models (CNN, BiLSTM) achieve acceptable performance on rare toxicity labels?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Do pretrained transformers (DistilBERT, BERT) overcome the rare-label ceiling — and why?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What is the minimum training data needed for each model family to reach competitive performance?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9BAD"/>
                </a:solidFill>
              </a:rPr>
              <a:t>6 labels:  toxic  ·  severe_toxic  ·  obscene  ·  threat  ·  insult  ·  identity_hate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159,571 Wikipedia talk-page comments  —  no missing values, no duplicate IDs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Multi-label binary classification: each comment independently belongs to any subset of 6 toxicity categories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Labels are NOT mutually exclusive — a single comment can be toxic, obscene, and an insult simultaneously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Fixed train / val split held constant across all experiments: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    ◦  Train:       143,613 samples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    ◦  Validation:   15,958 samples   (iterative stratification, random_state=42)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E8EEF4"/>
                </a:solidFill>
              </a:rPr>
              <a:t>•  6 binary label columns:  toxic  ·  severe_toxic  ·  obscene  ·  threat  ·  insult  ·  identity_hate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D"/>
                </a:solidFill>
              </a:rPr>
              <a:t>The same 15,958-sample validation set is used in every single experiment across all four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Label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347"/>
                </a:solidFill>
              </a:rPr>
              <a:t>~89.8% of comments are completely clean  ·  only ~10.2% have at least one label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64208"/>
          <a:ext cx="7132320" cy="3218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  <a:gridCol w="22860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Label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Count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Prevalence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Note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toxic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~15,294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~9.6%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Most common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obscene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~8,457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~5.3%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/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insult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~7,819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~4.9%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/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severe_toxic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1,595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~1.0%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Always co-occurs with 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identity_hate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~1,405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~0.88%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/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threat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478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~0.30%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Rarest — 32:1 ratio vs 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9" name="Picture 8" descr="fig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4206240" cy="1787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440277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Per-label class prevalence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Label Co-occurrence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BAD"/>
                </a:solidFill>
              </a:rPr>
              <a:t>Among the 16,225 labeled comments — how many toxicity labels does each carry?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64208"/>
          <a:ext cx="4206240" cy="3218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21031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# Labels Active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Comment Count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 label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6,360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 labels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3,480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 labels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4,209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4 labels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1,760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5 labels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385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6 labels (all)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31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0" y="16642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</a:rPr>
              <a:t>Key Co-occurrence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severe_toxic ⊂ toxic: 0 rows with severe_toxic=1 and toxic=0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toxic – obscene – insult form a tight cluster:  Pearson ρ ≈ 0.65–0.74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P(toxic=1 | obscene=1) = 93.81%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P(toxic=1 | insult=1) = 93.23%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P(toxic=1 | obscene=1 AND insult=1) = 96.73%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threat weakly correlates with all others  (ρ ≈ 0.12–0.16)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    ◦  High average AUC can completely hide a full threat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AD"/>
                </a:solidFill>
              </a:rPr>
              <a:t>Source: EDA.ipynb — Pearson correlation heatmap + conditional probability heatmap P(B=1|A=1)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Text Length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EDA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5303520" cy="3218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/>
                <a:gridCol w="1737360"/>
                <a:gridCol w="173736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Statistic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Characters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Words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Median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207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36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Mean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397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67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90th pct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895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152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95th pct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1,364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230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99th pct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3,471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567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Max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5,000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1,411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188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C3F7"/>
                </a:solidFill>
              </a:rPr>
              <a:t>Design Implications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Toxic comments are shorter at the median (~94–123 chars) vs. clean (~206–216 chars)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    ◦  Length is a misleading proxy — do not use it as a standalone feature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Heavy right tail: max 1,411 words — set max_length deliberately for all sequence models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Linguistic noise: slang, misspellings, abbreviations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    ◦  Affects word-level tokenisers (CNN, BiLSTM) more than WordPiece (BERT, DistilBERT)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Practical limits chosen: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    ◦  max_len = 100  (BiLSTM)  — covers 36-word median with headroom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    ◦  max_len = 256  (CNN)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    ◦  max_length = 128 → 192  (BERT/DistilBERT)  — key design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35040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AD"/>
                </a:solidFill>
              </a:rPr>
              <a:t>Source: EDA.ipynb — comment length KDE (clean vs. any-toxic) + median char length by label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EDA → 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EDA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4552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72000"/>
                <a:gridCol w="670255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EDA Finding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Design Response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32:1 imbalance (toxic vs. threat)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pos_weight per label in BCE loss  +  per-label threshold tuning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threat has only 478 positives in 143k rows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Training size sweep 10k→143k  ·  Macro F1 as primary metric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severe_toxic ⊂ toxic on train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Separate head + own threshold; expect unstable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threat weakly correlated with other labels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Evaluate threat explicitly — average AUC hides failure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Length variance: 36 median → 1,411 max words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max_len=100 (BiLSTM)  ·  256 (CNN)  ·  128→192 (BERT)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66% of this vocabulary has no GloVe vector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WordPiece subword tokenisation for transformers handles OOV via decomposition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Label co-occurrence structure in splits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Iterative stratification (skmultilearn) instead of random split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Overall Methodology —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METHODOLOGY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4552" cy="3474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4560"/>
                <a:gridCol w="3474720"/>
                <a:gridCol w="560527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Metric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What It Is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Why We Use It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Tuned Macro F1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(PRIMARY)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Unweighted average of per-label F1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across all 6 labels, after threshold optimisation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Weights all 6 labels equally — a complete failure on threat penalises the score the same as a failure on toxic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Baseline Macro F1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Same metric but with fixed threshold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t=0.5 for all labels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Measures raw model calibration before any threshold adjustment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Tuning Gain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(Tuned − Baseline)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Difference between tuned and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baseline macro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Large gain = model discriminates well but outputs miscalibrated probabilities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ROC-AUC per label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(secondary)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Probability the model ranks a positive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above a negative — threshold-independent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Confirms whether poor F1 is a calibration problem or a discrimination problem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Per-Label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F1 for each of the 6 labels individually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Exposes which specific toxicity types each model struggles with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Overall Methodology — Types of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METHODOLOGY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4552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1760"/>
                <a:gridCol w="5029200"/>
                <a:gridCol w="359359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Run Type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What It Does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Which Models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Full-data training run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Train on all 143,613 samples; evaluate on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fixed 15,958-sample validation set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All 4 models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Training size sweep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Train at 10k, 20k, 30k … up to full data;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same fixed val set at every size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CNN (→61k)  ·  BiLSTM (→140k)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DistilBERT &amp; BERT (→143k)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Hyperparameter grid search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Hold training size fixed at full data;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vary lr / weight decay / warmup across 16 configs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BERT Exp04 only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Ablation study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Hold all settings fixed except one variable;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isolate and measure the effect of that single change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DistilBERT Exp D (pos_weight)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DistilBERT Exp E (loss function)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Per-label threshold tuning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Grid search over [0.05–0.995] per label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on the validation set after every single run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8EEF4"/>
                          </a:solidFill>
                        </a:rPr>
                        <a:t>Applied to ALL runs, ALL models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6172200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AD"/>
                </a:solidFill>
              </a:rPr>
              <a:t>Fixed anchor: the same 15,958-sample validation set is used in every run — this is what makes all sweep curves directly comparable.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CNN + GloVe —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CNN + GLOVE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TextCNN: parallel Conv1d filters for 2 / 3 / 4 / 5-gram patterns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128 filters per filter size  ·  global max-pool  ·  512-dim concatenated output  ·  Dropout(0.5)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Parameters scale with vocabulary size: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~2.6M at 10k training samples  (vocab = 24,700 unique tokens)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~5.1M at max_vocab = 50k  (full training run)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Embeddings: GloVe 6B 100-dim — fine-tuned during training  (GLOVE_TRAINABLE = True)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Only 34% vocabulary coverage — 66% initialise from random vectors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max_len=256  ·  max_vocab=50k  ·  min_freq=2  ·  BCEWithLogitsLoss + pos_weight</a:t>
            </a:r>
          </a:p>
        </p:txBody>
      </p:sp>
      <p:pic>
        <p:nvPicPr>
          <p:cNvPr id="8" name="Picture 7" descr="graph8_vocab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4389120"/>
            <a:ext cx="6853072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2888" y="6638543"/>
            <a:ext cx="685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GloVe vocabulary coverage vs. training size  (graph8_vocab_coverage.png)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CNN + GloVe — Sweep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CNN + GLOVE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AD"/>
                </a:solidFill>
              </a:rPr>
              <a:t>Full-data result (143,613 samples, rebalance_train=False):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9344"/>
          <a:ext cx="4572000" cy="3383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1234440"/>
                <a:gridCol w="123444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Label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Tuned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ROC-AUC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toxic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0.753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0.961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severe_toxic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0.498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0.985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obscene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0.772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0.980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threat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0.277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0.982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insult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0.687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0.971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identity_hate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0.379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0.963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Macro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0.561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—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92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E8EEF4"/>
                </a:solidFill>
              </a:rPr>
              <a:t>•  Training time: 886s on CPU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8EEF4"/>
                </a:solidFill>
              </a:rPr>
              <a:t>•  ROC-AUC is 0.96+ on all labels — model ranks toxic vs. clean well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8EEF4"/>
                </a:solidFill>
              </a:rPr>
              <a:t>•  F1 for threat (0.277) and identity_hate (0.379) is very poor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8EEF4"/>
                </a:solidFill>
              </a:rPr>
              <a:t>    ◦  66% OOV: slurs and toxic slang start from random init with very few examples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8EEF4"/>
                </a:solidFill>
              </a:rPr>
              <a:t>•  Bottleneck is representation quality, not architecture</a:t>
            </a:r>
          </a:p>
        </p:txBody>
      </p:sp>
      <p:pic>
        <p:nvPicPr>
          <p:cNvPr id="10" name="Picture 9" descr="graph1_f1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6035040" cy="2472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481313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Macro F1 vs. training size  (Colab sweep, rebalance_train=True)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BiLSTM + Attention —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BiLSTM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Packed sequences — handles variable-length comments without padding overhead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Spatial Dropout(0.2) on the embedding dimension — regularises at representation level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Bidirectional LSTM (hidden=128) — reads sequence left-to-right and right-to-left simultaneously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LayerNorm after BiLSTM  ·  Learned attention with padding mask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Attention weights each token's contribution — not limited to fixed n-gram windows like CNN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~2M parameters  ·  max_len=100  (EDA: covers the ~36-word median with ample headroom)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Learnable embeddings — NOT GloVe — the model learns toxic vocabulary directly from context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Completely eliminates the 66% OOV problem — there are no unknown tokens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BCEWithLogitsLoss + pos_weight  ·  early stopping on val macro F1  (patience=3)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Training size sweep: 20k → 140k  (no 10k data point — sweep started at 20k)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BiLSTM + Attention —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BiLSTM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AD"/>
                </a:solidFill>
              </a:rPr>
              <a:t>Best result at 60k training samples  (performance degraded beyond 60k — overfitting to noisy labels):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27632"/>
          <a:ext cx="4572000" cy="36393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1234440"/>
                <a:gridCol w="123444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Label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Tuned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ROC-AUC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toxic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0.737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0.961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severe_toxic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0.457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0.985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obscene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0.745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0.968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threat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0.462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0.998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insult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0.659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0.960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identity_hate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0.270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0.953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Macro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0.555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—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120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Threat F1 (0.462) much better than CNN (0.277) — learnable embeddings specialise on toxic vocab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Identity_hate regressed vs. CNN (0.270 vs. 0.379) — fewer positives at 60k than full 143k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Macro F1 (0.555) ≈ CNN (0.561) despite very different architectures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Key finding: both models hit the same ceiling — word-level representation is the bottleneck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Motivates transformers: WordPiece subword tokenisation handles OOV via decomposition — no true unknowns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DistilBERT — Exp B: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DISTILBERT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distilbert-base-uncased: 6 transformer layers  ·  768 hidden  ·  12 heads  ·  ~67M params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WordPiece subword tokenisation: decomposes unknown words into known subwords — eliminates OOV entirely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Config: max_length=128  ·  lr=2e-5  ·  warmup=0.1  ·  wd=0.01  ·  pos_weight=True  ·  BCE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AD"/>
                </a:solidFill>
              </a:rPr>
              <a:t>Training size sweep results: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218688"/>
          <a:ext cx="4572000" cy="24323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Train Size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Tuned Macro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0.584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40k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0.659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60k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0.671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143k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0.676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Full data: macro F1 = 0.676  vs. CNN 0.561  →  +0.115 purely from representation quality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Curve is noisy — drops at 20k→30k before recovering — pos_weight may be fighting pretrained priors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25312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B347"/>
                </a:solidFill>
              </a:rPr>
              <a:t>→  Next: ablate pos_weight to isolate its effect on a pretrained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DistilBERT — Exp D: Positive Weighting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DISTILBERT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B347"/>
                </a:solidFill>
              </a:rPr>
              <a:t>Question: does pos_weight help or hurt DistilBERT?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AD"/>
                </a:solidFill>
              </a:rPr>
              <a:t>6-variant ablation at full data — pos_weight × {none, clip20, clip50} × {baseline, rebalanced}: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76272"/>
          <a:ext cx="6400800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Config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Tuned Macro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no pos_weight (baseline)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0.7007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rebalanced + pw_clip20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0.6958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rebalanced + no_pw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0.6923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pos_weight clip20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0.6923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pos_weight clip50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0.6906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rebalanced + pw_clip50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0.6887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4924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Finding: pos_weight hurts DistilBERT — +0.024 gain from simply removing it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Pretrained models have internal class priors from pretraining on massive corpora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Forcing external pos_weight fights those priors and distorts calibration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Decision: drop pos_weight for all subsequent transformer experiments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25312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B347"/>
                </a:solidFill>
              </a:rPr>
              <a:t>→  Next: test whether focal loss can further improve rare-label calibration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DistilBERT — Exp E: Loss Function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DISTILBERT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B347"/>
                </a:solidFill>
              </a:rPr>
              <a:t>Question: can focal loss beat BCE for class-imbalanced multi-label classification?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AD"/>
                </a:solidFill>
              </a:rPr>
              <a:t>Config: lr=1.75e-5  ·  wd=0.015  ·  warmup=0.1  ·  no pos_weight  ·  full data (143k):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76272"/>
          <a:ext cx="5943600" cy="25054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Loss Function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Tuned Macro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BCE, no pos_weight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0.7007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Focal  γ=3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0.6965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Focal  γ=1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0.6923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Focal  γ=2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0.6870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315968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Finding: focal loss underperforms BCE across all γ values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Focal loss and per-label threshold tuning both address calibration — using both is redundant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Focal loss adjusts class weights during training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Threshold tuning adjusts the decision boundary after training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Stacking them attacks the same problem from both ends — they conflict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Decision: BCE + per-label threshold tuning is the final recipe for all transformer experiments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25312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B347"/>
                </a:solidFill>
              </a:rPr>
              <a:t>→  Apply best config to full training-size sweep to measure DistilBERT data efficiency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DistilBERT — Final Sweep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DISTILBERT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AD"/>
                </a:solidFill>
              </a:rPr>
              <a:t>Best config: no pos_weight  ·  BCE  ·  lr=1.75e-5  ·  wd=0.015  ·  warmup=0.1  ·  max_length=128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4572000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Train Size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Tuned Macro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10k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0.544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40k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0.660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50k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0.679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80k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0.689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90k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0.698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140k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0.704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143k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0.696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74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Full data (143k): tuned macro F1 = 0.696  ·  training time = 1,403s on GPU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+0.020 over Exp B (0.676) purely from dropping pos_weight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Curve peaks at 140k (0.704) — noisy above 80k with no clean plateau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Rapid gains 10k→50k; strong diminishing returns beyond 80k</a:t>
            </a:r>
          </a:p>
        </p:txBody>
      </p:sp>
      <p:pic>
        <p:nvPicPr>
          <p:cNvPr id="10" name="Picture 9" descr="fig07_distilbert_per_label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377440"/>
            <a:ext cx="4846320" cy="2024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445703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DistilBERT per-label F1 vs. training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BERT — Exp04: Hyperparameter Grid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bert-base-uncased: 12 transformer layers  ·  768 hidden  ·  12 heads  ·  ~109M params  ·  max_length=128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16-run grid: lr ∈ {1.5e-5, 2.0e-5, 2.5e-5, 3.0e-5}  ×  wd ∈ {0.01, 0.015}  ×  warmup ∈ {0.06, 0.10}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All runs: BCE, no pos_weight, full data (143k)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EEF4"/>
                </a:solidFill>
              </a:rPr>
              <a:t>Result range: 0.6986 – 0.7091   (spread of only 0.010)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D"/>
                </a:solidFill>
              </a:rPr>
              <a:t>Narrow spread — model quality drives performance more than hyperparameter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347"/>
                </a:solidFill>
              </a:rPr>
              <a:t>Best config:  lr=1.5e-5  ·  wd=0.015  ·  warmup=0.06   →   Macro F1 = 0.7091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Threat F1 = 0.537 — identified as the key bottleneck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Hypothesis: max_length=128 may be truncating context in threat and identity_hate comments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These comments often contain preamble before the actual threat — truncation cuts relevant signal</a:t>
            </a:r>
          </a:p>
        </p:txBody>
      </p:sp>
      <p:pic>
        <p:nvPicPr>
          <p:cNvPr id="12" name="Picture 11" descr="fig06_bert_swee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60320"/>
            <a:ext cx="4572000" cy="20971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0" y="47123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BERT Exp04 hyperparameter grid heatmap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25312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B347"/>
                </a:solidFill>
              </a:rPr>
              <a:t>→  Next: increase context window 128 → 192 tokens and measure the per-label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BERT — Exp05: Context Window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B347"/>
                </a:solidFill>
              </a:rPr>
              <a:t>Hypothesis: increasing max_length 128 → 192 captures more context for threat and identity_hate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D"/>
                </a:solidFill>
              </a:rPr>
              <a:t>Best hyperparams from Exp04  ·  bf16 AMP  ·  grad_accum_steps=2, batch=16  (effective batch=32)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57984"/>
          <a:ext cx="7772400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1828800"/>
                <a:gridCol w="18288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Label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Exp04  (128 tok)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Exp05  (192 tok)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Δ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threat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0.537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0.659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+0.122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identity_hate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0.534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0.597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+0.063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severe_toxic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0.533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0.552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+0.019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0.839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0.841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+0.002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obscene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—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0.849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—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insult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—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0.784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—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Macro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0.709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0.714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+0.005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486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Full data: tuned macro F1 = 0.7135  —  best single BERT result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Training time = 2,937s on GPU (L4)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Context window is a first-class design parameter for rare-label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25312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B347"/>
                </a:solidFill>
              </a:rPr>
              <a:t>→  Apply Exp05 config to full training-size sweep (Exp06) to measure BERT data efficiency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BERT — Exp06: Data Efficiency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AD"/>
                </a:solidFill>
              </a:rPr>
              <a:t>Same config as Exp05  (max_length=192, lr=1.5e-5, wd=0.015, warmup=0.06)  ·  15 training sizes: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5943600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0240"/>
                <a:gridCol w="201168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Train Size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Tuned Macro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Train Time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0.591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254s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50k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0.690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1,274s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80k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0.696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2,041s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90k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0.701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1,837s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120k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0.710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2,450s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143k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0.706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2,944s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834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BERT at 80k (0.696) = DistilBERT at full data (0.696) — same macro F1 at 56% of the data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Peak at 120k (0.710) — full data (0.706) is not the single best point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50k → full data gain = only +0.016 — strong diminishing returns above 50k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~91% of total macro F1 gain (10k → full data) is captured at just 80k samples</a:t>
            </a:r>
          </a:p>
        </p:txBody>
      </p:sp>
      <p:pic>
        <p:nvPicPr>
          <p:cNvPr id="10" name="Picture 9" descr="bert_exp_06_graph_01_f1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68880"/>
            <a:ext cx="4572000" cy="20781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460192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BERT Exp06 — Macro F1 vs. training size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Model Comparison — Per-Label F1 at Full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9445751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1737360"/>
                <a:gridCol w="1920240"/>
                <a:gridCol w="1828800"/>
                <a:gridCol w="1856231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Label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CNN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BiLSTM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(best @ 60k)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DistilBERT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FC3F7"/>
                          </a:solidFill>
                        </a:rPr>
                        <a:t>BERT Exp05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toxic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0.753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0.737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0.841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0.841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severe_toxic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0.498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0.457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0.543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0.552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obscene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0.772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0.745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0.845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0.849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threat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0.277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0.462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0.568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0.659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identity_hate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0.379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0.270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0.608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0.597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insult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0.687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0.659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0.772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0.784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Macro F1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0.561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0.555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8EEF4"/>
                          </a:solidFill>
                        </a:rPr>
                        <a:t>0.696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347"/>
                          </a:solidFill>
                        </a:rPr>
                        <a:t>0.714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BERT Exp05 leads overall (0.714) and on threat (0.659) — context window extension was decisive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DistilBERT beats BERT on identity_hate (0.608 vs. 0.597) — smaller model, same context window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E8EEF4"/>
                </a:solidFill>
              </a:rPr>
              <a:t>•  Both task-trained models plateau at ~0.56 despite different architectures — representation ceiling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Model Comparison — At 10k Training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B347"/>
                </a:solidFill>
              </a:rPr>
              <a:t>How well does each model perform when given only 10,000 training examples?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11274552" cy="2596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080"/>
                <a:gridCol w="2011680"/>
                <a:gridCol w="633679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Model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Macro F1 @ 10k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Note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BERT Exp06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0.591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Best at low data — pretraining transfers immediately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DistilBERT (final)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0.544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Strong from 10k onward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CNN (rebalanced sweep)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0.533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Rebalanced preprocessing — not directly comparable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BiLSTM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no 10k data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Sweep started at 20k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BERT leads at all observed training sizes — there is no crossover point where task-trained models win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Both transformers already outperform CNN at 10k samples — pretraining transfers immediately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CNN's 10k value uses rebalanced data (rebalance_train=True); BERT/DistilBERT use raw distribution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    ◦  Direct numeric comparison is inexact — CNN had access to fewer negative examples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Practical implication: if you can afford even minimal GPU fine-tuning, a pretrained transformer always wins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Data Efficiency — All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>
                <a:solidFill>
                  <a:srgbClr val="E8EEF4"/>
                </a:solidFill>
              </a:rPr>
              <a:t>•  CNN and BiLSTM plateau early — CNN peaks ~60k (macro F1 ≈ 0.58), no benefit from more data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E8EEF4"/>
                </a:solidFill>
              </a:rPr>
              <a:t>•  Both transformers show rapid gain 10k→50k; curve flattens above 80k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E8EEF4"/>
                </a:solidFill>
              </a:rPr>
              <a:t>•  BERT at 80k (0.696) = DistilBERT at full data (0.696) — same F1 at 56% of the data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E8EEF4"/>
                </a:solidFill>
              </a:rPr>
              <a:t>•  ~91% of BERT's total macro F1 gain (10k → full data) is captured at 80k samples</a:t>
            </a:r>
          </a:p>
        </p:txBody>
      </p:sp>
      <p:pic>
        <p:nvPicPr>
          <p:cNvPr id="8" name="Picture 7" descr="fig03_macro_f1_vs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3611880"/>
            <a:ext cx="7315200" cy="3056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41448" y="67229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All-model tuned macro F1 vs. training size  (fig03)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Training Cost vs.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686800" cy="20665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2286000"/>
                <a:gridCol w="2011680"/>
                <a:gridCol w="21031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Model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Train Time @ Full Data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Hardware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C3F7"/>
                          </a:solidFill>
                        </a:rPr>
                        <a:t>Macro F1</a:t>
                      </a:r>
                    </a:p>
                  </a:txBody>
                  <a:tcPr marL="54864" marR="54864" marT="45720" marB="45720">
                    <a:solidFill>
                      <a:srgbClr val="1A365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CNN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886s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CPU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0.561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DistilBERT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1,403s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GPU (L4)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E8EEF4"/>
                          </a:solidFill>
                        </a:rPr>
                        <a:t>0.696</a:t>
                      </a:r>
                    </a:p>
                  </a:txBody>
                  <a:tcPr marL="54864" marR="54864" marT="45720" marB="45720">
                    <a:solidFill>
                      <a:srgbClr val="0D1B2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BERT Exp05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2,937s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GPU (L4)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B347"/>
                          </a:solidFill>
                        </a:rPr>
                        <a:t>0.714</a:t>
                      </a:r>
                    </a:p>
                  </a:txBody>
                  <a:tcPr marL="54864" marR="54864" marT="45720" marB="45720">
                    <a:solidFill>
                      <a:srgbClr val="12283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926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D"/>
                </a:solidFill>
              </a:rPr>
              <a:t>ROC-AUC note: all models score 0.95+ on all labels — the gap is entirely in calibration, not ranking ability.</a:t>
            </a:r>
          </a:p>
        </p:txBody>
      </p:sp>
      <p:pic>
        <p:nvPicPr>
          <p:cNvPr id="9" name="Picture 8" descr="fig05_efficiency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520440"/>
            <a:ext cx="5625136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0" y="6592824"/>
            <a:ext cx="5625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AD"/>
                </a:solidFill>
              </a:rPr>
              <a:t>Efficiency frontier: tuned macro F1 vs. training time  (fig05)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•  Representation is the bottleneck for task-trained models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    ◦  CNN and BiLSTM both plateau at ~0.56 macro F1; 66% OOV is a hard ceiling no architecture change can overcome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•  WordPiece subword tokenisation accounts for most of the transformer advantage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    ◦  DistilBERT's +0.115 gain over CNN comes from handling OOV via decomposition, not from model depth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•  Context window is a first-class design parameter for rare-label classification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    ◦  BERT 128→192 tokens gave +0.122 threat F1 — the single largest gain from a single change in this project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•  pos_weight and focal loss hurt pretrained transformers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    ◦  Pretrained priors interact with external loss reweighting — per-label threshold tuning alone is the right approach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•  BERT leads at all training sizes including 10k — no regime where task-trained models win</a:t>
            </a:r>
          </a:p>
          <a:p>
            <a:pPr>
              <a:spcBef>
                <a:spcPts val="900"/>
              </a:spcBef>
            </a:pPr>
            <a:r>
              <a:rPr sz="1700">
                <a:solidFill>
                  <a:srgbClr val="E8EEF4"/>
                </a:solidFill>
              </a:rPr>
              <a:t>•  Diminishing returns above 50k — 91% of BERT's macro F1 gain is captured at 80k samples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AD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C3F7"/>
                </a:solidFill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CNN sweep used rebalance_train=True — cross-model data efficiency comparison is inexact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No cross-dataset evaluation — Wikipedia talk-page → Twitter / Reddit transfer is unknown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Per-label threshold tuning on the fixed val set may slightly overfit to that 15,958-sample distribution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BiLSTM early stopping on val macro F1 vs. CNN fixed 2 epochs makes their comparison slightly unfair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74552" cy="27432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C3F7"/>
                </a:solidFill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RoBERTa or DeBERTa — more robust pretraining for further rare-label gains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Ensemble CNN + BERT as a fast-filter / deep-reranker pipeline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Calibration via Platt scaling or temperature scaling — cleaner than brute-force threshold grid search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E8EEF4"/>
                </a:solidFill>
              </a:rPr>
              <a:t>•  Cross-lingual extension using mBERT or XLM-R for non-English toxic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